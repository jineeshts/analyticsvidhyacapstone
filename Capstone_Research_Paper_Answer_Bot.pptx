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645920"/>
            <a:ext cx="5029200" cy="50292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4206240"/>
            <a:ext cx="2926080" cy="2926080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71600"/>
            <a:ext cx="914400" cy="91440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58191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560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PROJECT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6384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Research Paper Answer Bot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822960" y="38862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Retrieval-Augmented Generation system over Generative AI &amp; LLM research papers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Pinnacle Program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  Analytics Vidhya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822960" y="56235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 &lt;Your Name&gt;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Business Case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6766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scenario:  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company like ArXiv maintains a large repository of the latest AI and Data Science research papers.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2286000"/>
            <a:ext cx="67665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want an intelligent chatbot that answers questions people ask about popular topics in Generative AI — grounded in the actual papers, not made-up.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640080" y="3657600"/>
            <a:ext cx="64008" cy="71323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365760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is buried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68680" y="395935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Answers live deep inside dozens of dense PDFs.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40080" y="4526280"/>
            <a:ext cx="64008" cy="71323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8"/>
          <p:cNvSpPr/>
          <p:nvPr/>
        </p:nvSpPr>
        <p:spPr>
          <a:xfrm>
            <a:off x="868680" y="452628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LLMs hallucinate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68680" y="482803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chatbot without grounding invents facts and citations.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0080" y="5394960"/>
            <a:ext cx="64008" cy="713232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4" name="Text 11"/>
          <p:cNvSpPr/>
          <p:nvPr/>
        </p:nvSpPr>
        <p:spPr>
          <a:xfrm>
            <a:off x="868680" y="5394960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need trust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68680" y="569671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answer must show which paper it came from.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7955280" y="1371600"/>
            <a:ext cx="3566160" cy="4754880"/>
          </a:xfrm>
          <a:prstGeom prst="roundRect">
            <a:avLst>
              <a:gd name="adj" fmla="val 2051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4040" y="1828800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138160" y="2560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Goal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8229600" y="30175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RAG system that reads the papers, retrieves the right passages, and answers in plain language — with sources.</a:t>
            </a:r>
            <a:endParaRPr lang="en-US" sz="1450" dirty="0"/>
          </a:p>
        </p:txBody>
      </p:sp>
      <p:sp>
        <p:nvSpPr>
          <p:cNvPr id="20" name="Text 16"/>
          <p:cNvSpPr/>
          <p:nvPr/>
        </p:nvSpPr>
        <p:spPr>
          <a:xfrm>
            <a:off x="8229600" y="4754880"/>
            <a:ext cx="3017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limited to a focused set of seminal papers, per the project's 2-week timeframe.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Built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3258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end-to-end RAG chatbot with a web chat interface — modular by design, so each component can be swapped to compare approaches.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2860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2423160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640080" y="3246120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Compulsory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goals met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3493008" y="22860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493008" y="2423160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4B8A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 / 3</a:t>
            </a:r>
            <a:endParaRPr lang="en-US" sz="4400" dirty="0"/>
          </a:p>
        </p:txBody>
      </p:sp>
      <p:sp>
        <p:nvSpPr>
          <p:cNvPr id="11" name="Text 8"/>
          <p:cNvSpPr/>
          <p:nvPr/>
        </p:nvSpPr>
        <p:spPr>
          <a:xfrm>
            <a:off x="3493008" y="3246120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6345936" y="22860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6345936" y="2423160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6345936" y="3246120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models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9198864" y="228600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9198864" y="2423160"/>
            <a:ext cx="2606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4400" dirty="0"/>
          </a:p>
        </p:txBody>
      </p:sp>
      <p:sp>
        <p:nvSpPr>
          <p:cNvPr id="17" name="Text 14"/>
          <p:cNvSpPr/>
          <p:nvPr/>
        </p:nvSpPr>
        <p:spPr>
          <a:xfrm>
            <a:off x="9198864" y="3246120"/>
            <a:ext cx="2606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strategies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640080" y="4297680"/>
            <a:ext cx="10881360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14400" y="45262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brief asked for all compulsory goals + at least one stretch goal.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914400" y="50292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delivers </a:t>
            </a:r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stretch goals</a:t>
            </a:r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 a Chainlit chat UI,  multi-user conversational memory,  and an agentic Corrective-RAG with web-search fallback.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Solution Architecture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298448" y="950976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components on one VPS, calling external APIs for embeddings, generation and web search.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57200" y="1554480"/>
            <a:ext cx="704088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57200" y="1554480"/>
            <a:ext cx="82296" cy="7315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8" name="Text 5"/>
          <p:cNvSpPr/>
          <p:nvPr/>
        </p:nvSpPr>
        <p:spPr>
          <a:xfrm>
            <a:off x="621792" y="155448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103120" y="169164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139696" y="1691640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/ Browser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983480" y="1691640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020056" y="1691640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Chainlit Chat UI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57200" y="2432304"/>
            <a:ext cx="7040880" cy="9601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" y="2432304"/>
            <a:ext cx="82296" cy="9601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2"/>
          <p:cNvSpPr/>
          <p:nvPr/>
        </p:nvSpPr>
        <p:spPr>
          <a:xfrm>
            <a:off x="621792" y="2432304"/>
            <a:ext cx="1463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(orchestration)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2103120" y="2633472"/>
            <a:ext cx="16459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2139696" y="263347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Conversational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977640" y="2633472"/>
            <a:ext cx="1645920" cy="548640"/>
          </a:xfrm>
          <a:prstGeom prst="roundRect">
            <a:avLst>
              <a:gd name="adj" fmla="val 833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4014216" y="263347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Corrective-RAG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(LangGraph)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852160" y="2633472"/>
            <a:ext cx="16459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5888736" y="2633472"/>
            <a:ext cx="15727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57200" y="3538728"/>
            <a:ext cx="7040880" cy="73152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3538728"/>
            <a:ext cx="82296" cy="73152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4" name="Text 21"/>
          <p:cNvSpPr/>
          <p:nvPr/>
        </p:nvSpPr>
        <p:spPr>
          <a:xfrm>
            <a:off x="621792" y="3538728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103120" y="3675888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2139696" y="3675888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 — dense / hybrid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983480" y="3675888"/>
            <a:ext cx="2514600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020056" y="3675888"/>
            <a:ext cx="2441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Reranker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4416552"/>
            <a:ext cx="7040880" cy="86868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4416552"/>
            <a:ext cx="82296" cy="8686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1" name="Text 28"/>
          <p:cNvSpPr/>
          <p:nvPr/>
        </p:nvSpPr>
        <p:spPr>
          <a:xfrm>
            <a:off x="621792" y="4416552"/>
            <a:ext cx="1463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2103120" y="4617720"/>
            <a:ext cx="16459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2139696" y="461772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DB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3977640" y="4617720"/>
            <a:ext cx="16459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5" name="Text 32"/>
          <p:cNvSpPr/>
          <p:nvPr/>
        </p:nvSpPr>
        <p:spPr>
          <a:xfrm>
            <a:off x="4014216" y="461772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Index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5852160" y="4617720"/>
            <a:ext cx="16459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5888736" y="4617720"/>
            <a:ext cx="157276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History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4800600" y="2286000"/>
            <a:ext cx="0" cy="146304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4800600" y="3392424"/>
            <a:ext cx="0" cy="146304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40" name="Shape 37"/>
          <p:cNvSpPr/>
          <p:nvPr/>
        </p:nvSpPr>
        <p:spPr>
          <a:xfrm>
            <a:off x="4800600" y="4270248"/>
            <a:ext cx="0" cy="146304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41" name="Shape 38"/>
          <p:cNvSpPr/>
          <p:nvPr/>
        </p:nvSpPr>
        <p:spPr>
          <a:xfrm>
            <a:off x="7818120" y="1554480"/>
            <a:ext cx="3931920" cy="2926080"/>
          </a:xfrm>
          <a:prstGeom prst="rect">
            <a:avLst/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818120" y="1554480"/>
            <a:ext cx="82296" cy="2926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3" name="Text 40"/>
          <p:cNvSpPr/>
          <p:nvPr/>
        </p:nvSpPr>
        <p:spPr>
          <a:xfrm>
            <a:off x="8019288" y="166420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SERVICES (APIs)</a:t>
            </a:r>
            <a:endParaRPr lang="en-US" sz="1200" dirty="0"/>
          </a:p>
        </p:txBody>
      </p:sp>
      <p:sp>
        <p:nvSpPr>
          <p:cNvPr id="44" name="Shape 41"/>
          <p:cNvSpPr/>
          <p:nvPr/>
        </p:nvSpPr>
        <p:spPr>
          <a:xfrm>
            <a:off x="8046720" y="2121408"/>
            <a:ext cx="34747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5" name="Text 42"/>
          <p:cNvSpPr/>
          <p:nvPr/>
        </p:nvSpPr>
        <p:spPr>
          <a:xfrm>
            <a:off x="8083296" y="2121408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— Embeddings</a:t>
            </a:r>
            <a:endParaRPr lang="en-US" sz="1250" dirty="0"/>
          </a:p>
        </p:txBody>
      </p:sp>
      <p:sp>
        <p:nvSpPr>
          <p:cNvPr id="46" name="Shape 43"/>
          <p:cNvSpPr/>
          <p:nvPr/>
        </p:nvSpPr>
        <p:spPr>
          <a:xfrm>
            <a:off x="8046720" y="2798064"/>
            <a:ext cx="34747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7" name="Text 44"/>
          <p:cNvSpPr/>
          <p:nvPr/>
        </p:nvSpPr>
        <p:spPr>
          <a:xfrm>
            <a:off x="8083296" y="2798064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— GPT (generation)</a:t>
            </a:r>
            <a:endParaRPr lang="en-US" sz="1250" dirty="0"/>
          </a:p>
        </p:txBody>
      </p:sp>
      <p:sp>
        <p:nvSpPr>
          <p:cNvPr id="48" name="Shape 45"/>
          <p:cNvSpPr/>
          <p:nvPr/>
        </p:nvSpPr>
        <p:spPr>
          <a:xfrm>
            <a:off x="8046720" y="3474720"/>
            <a:ext cx="3474720" cy="548640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49" name="Text 46"/>
          <p:cNvSpPr/>
          <p:nvPr/>
        </p:nvSpPr>
        <p:spPr>
          <a:xfrm>
            <a:off x="8083296" y="3474720"/>
            <a:ext cx="3401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DuckDuckGo — Web Search</a:t>
            </a:r>
            <a:endParaRPr lang="en-US" sz="1250" dirty="0"/>
          </a:p>
        </p:txBody>
      </p:sp>
      <p:sp>
        <p:nvSpPr>
          <p:cNvPr id="50" name="Shape 47"/>
          <p:cNvSpPr/>
          <p:nvPr/>
        </p:nvSpPr>
        <p:spPr>
          <a:xfrm>
            <a:off x="7498080" y="2907792"/>
            <a:ext cx="3200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  <a:tailEnd type="triangle"/>
          </a:ln>
        </p:spPr>
      </p:sp>
      <p:sp>
        <p:nvSpPr>
          <p:cNvPr id="51" name="Shape 48"/>
          <p:cNvSpPr/>
          <p:nvPr/>
        </p:nvSpPr>
        <p:spPr>
          <a:xfrm>
            <a:off x="7498080" y="3904488"/>
            <a:ext cx="320040" cy="0"/>
          </a:xfrm>
          <a:prstGeom prst="line">
            <a:avLst/>
          </a:prstGeom>
          <a:noFill/>
          <a:ln w="25400">
            <a:solidFill>
              <a:srgbClr val="F59E0B"/>
            </a:solidFill>
            <a:prstDash val="dash"/>
            <a:tailEnd type="triangle"/>
          </a:ln>
        </p:spPr>
      </p:sp>
      <p:sp>
        <p:nvSpPr>
          <p:cNvPr id="52" name="Shape 49"/>
          <p:cNvSpPr/>
          <p:nvPr/>
        </p:nvSpPr>
        <p:spPr>
          <a:xfrm>
            <a:off x="7818120" y="4626864"/>
            <a:ext cx="3931920" cy="658368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3" name="Text 50"/>
          <p:cNvSpPr/>
          <p:nvPr/>
        </p:nvSpPr>
        <p:spPr>
          <a:xfrm>
            <a:off x="8001000" y="462686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  </a:t>
            </a:r>
            <a:pPr indent="0" marL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Hostinger VPS · Nginx · systemd</a:t>
            </a:r>
            <a:endParaRPr lang="en-US" sz="1200" dirty="0"/>
          </a:p>
        </p:txBody>
      </p:sp>
      <p:sp>
        <p:nvSpPr>
          <p:cNvPr id="54" name="Shape 51"/>
          <p:cNvSpPr/>
          <p:nvPr/>
        </p:nvSpPr>
        <p:spPr>
          <a:xfrm>
            <a:off x="457200" y="5532120"/>
            <a:ext cx="11292840" cy="7772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57200" y="5532120"/>
            <a:ext cx="82296" cy="77724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56" name="Text 53"/>
          <p:cNvSpPr/>
          <p:nvPr/>
        </p:nvSpPr>
        <p:spPr>
          <a:xfrm>
            <a:off x="621792" y="5532120"/>
            <a:ext cx="1371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INDEXING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2057400" y="5687568"/>
            <a:ext cx="162763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58" name="Text 55"/>
          <p:cNvSpPr/>
          <p:nvPr/>
        </p:nvSpPr>
        <p:spPr>
          <a:xfrm>
            <a:off x="2093976" y="56875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PDFs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3721608" y="5916168"/>
            <a:ext cx="310896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0" name="Shape 57"/>
          <p:cNvSpPr/>
          <p:nvPr/>
        </p:nvSpPr>
        <p:spPr>
          <a:xfrm>
            <a:off x="4069080" y="5687568"/>
            <a:ext cx="162763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1" name="Text 58"/>
          <p:cNvSpPr/>
          <p:nvPr/>
        </p:nvSpPr>
        <p:spPr>
          <a:xfrm>
            <a:off x="4105656" y="56875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load</a:t>
            </a:r>
            <a:endParaRPr lang="en-US" sz="1100" dirty="0"/>
          </a:p>
        </p:txBody>
      </p:sp>
      <p:sp>
        <p:nvSpPr>
          <p:cNvPr id="62" name="Shape 59"/>
          <p:cNvSpPr/>
          <p:nvPr/>
        </p:nvSpPr>
        <p:spPr>
          <a:xfrm>
            <a:off x="5733288" y="5916168"/>
            <a:ext cx="310896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3" name="Shape 60"/>
          <p:cNvSpPr/>
          <p:nvPr/>
        </p:nvSpPr>
        <p:spPr>
          <a:xfrm>
            <a:off x="6080760" y="5687568"/>
            <a:ext cx="162763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4" name="Text 61"/>
          <p:cNvSpPr/>
          <p:nvPr/>
        </p:nvSpPr>
        <p:spPr>
          <a:xfrm>
            <a:off x="6117336" y="56875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 + metadata</a:t>
            </a:r>
            <a:endParaRPr lang="en-US" sz="1100" dirty="0"/>
          </a:p>
        </p:txBody>
      </p:sp>
      <p:sp>
        <p:nvSpPr>
          <p:cNvPr id="65" name="Shape 62"/>
          <p:cNvSpPr/>
          <p:nvPr/>
        </p:nvSpPr>
        <p:spPr>
          <a:xfrm>
            <a:off x="7744968" y="5916168"/>
            <a:ext cx="310896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6" name="Shape 63"/>
          <p:cNvSpPr/>
          <p:nvPr/>
        </p:nvSpPr>
        <p:spPr>
          <a:xfrm>
            <a:off x="8092440" y="5687568"/>
            <a:ext cx="162763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7" name="Text 64"/>
          <p:cNvSpPr/>
          <p:nvPr/>
        </p:nvSpPr>
        <p:spPr>
          <a:xfrm>
            <a:off x="8129016" y="56875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9756648" y="5916168"/>
            <a:ext cx="310896" cy="0"/>
          </a:xfrm>
          <a:prstGeom prst="line">
            <a:avLst/>
          </a:prstGeom>
          <a:noFill/>
          <a:ln w="2540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69" name="Shape 66"/>
          <p:cNvSpPr/>
          <p:nvPr/>
        </p:nvSpPr>
        <p:spPr>
          <a:xfrm>
            <a:off x="10104120" y="5687568"/>
            <a:ext cx="1627632" cy="4572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0" name="Text 67"/>
          <p:cNvSpPr/>
          <p:nvPr/>
        </p:nvSpPr>
        <p:spPr>
          <a:xfrm>
            <a:off x="10140696" y="568756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 DB</a:t>
            </a:r>
            <a:endParaRPr lang="en-US" sz="1100" dirty="0"/>
          </a:p>
        </p:txBody>
      </p:sp>
      <p:sp>
        <p:nvSpPr>
          <p:cNvPr id="71" name="Text 68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Request &amp; Data Flow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298448" y="950976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question travels through the system at run time.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02920" y="182880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2029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48640" y="24871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user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532888" y="2423160"/>
            <a:ext cx="283464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816352" y="182880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862072" y="2029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Retrieve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2862072" y="24871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papers from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vector DB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46320" y="2423160"/>
            <a:ext cx="283464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5129784" y="182880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175504" y="2029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Grade &amp; build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context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5175504" y="24871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chunks only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159752" y="2423160"/>
            <a:ext cx="283464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7443216" y="182880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7488936" y="2029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7488936" y="24871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answers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context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473184" y="2423160"/>
            <a:ext cx="283464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9756648" y="1828800"/>
            <a:ext cx="2011680" cy="1188720"/>
          </a:xfrm>
          <a:prstGeom prst="roundRect">
            <a:avLst>
              <a:gd name="adj" fmla="val 6154"/>
            </a:avLst>
          </a:prstGeom>
          <a:solidFill>
            <a:srgbClr val="0D948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9802368" y="20299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Answer +</a:t>
            </a:r>
            <a:endParaRPr lang="en-US" sz="1450" dirty="0"/>
          </a:p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Sources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9802368" y="248716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top-3 cited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to user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502920" y="3611880"/>
            <a:ext cx="112014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777240" y="3840480"/>
            <a:ext cx="502920" cy="50292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50208"/>
            <a:ext cx="283464" cy="283464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417320" y="3840480"/>
            <a:ext cx="9875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retrieval is weak — the Corrective-RAG fallback fires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822960" y="4617720"/>
            <a:ext cx="2011680" cy="868680"/>
          </a:xfrm>
          <a:prstGeom prst="roundRect">
            <a:avLst>
              <a:gd name="adj" fmla="val 526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0" name="Text 26"/>
          <p:cNvSpPr/>
          <p:nvPr/>
        </p:nvSpPr>
        <p:spPr>
          <a:xfrm>
            <a:off x="859536" y="4617720"/>
            <a:ext cx="1938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relevance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2862072" y="5047488"/>
            <a:ext cx="219456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3090672" y="4617720"/>
            <a:ext cx="2377440" cy="868680"/>
          </a:xfrm>
          <a:prstGeom prst="roundRect">
            <a:avLst>
              <a:gd name="adj" fmla="val 5263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3" name="Text 29"/>
          <p:cNvSpPr/>
          <p:nvPr/>
        </p:nvSpPr>
        <p:spPr>
          <a:xfrm>
            <a:off x="3127248" y="4617720"/>
            <a:ext cx="230428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weak? rewrite query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5495544" y="5047488"/>
            <a:ext cx="219456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5724144" y="4617720"/>
            <a:ext cx="2743200" cy="868680"/>
          </a:xfrm>
          <a:prstGeom prst="roundRect">
            <a:avLst>
              <a:gd name="adj" fmla="val 5263"/>
            </a:avLst>
          </a:prstGeom>
          <a:solidFill>
            <a:srgbClr val="1E293B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6" name="Text 32"/>
          <p:cNvSpPr/>
          <p:nvPr/>
        </p:nvSpPr>
        <p:spPr>
          <a:xfrm>
            <a:off x="5760720" y="4617720"/>
            <a:ext cx="2670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(DuckDuckGo)</a:t>
            </a:r>
            <a:endParaRPr lang="en-US" sz="1200" dirty="0"/>
          </a:p>
        </p:txBody>
      </p:sp>
      <p:sp>
        <p:nvSpPr>
          <p:cNvPr id="37" name="Shape 33"/>
          <p:cNvSpPr/>
          <p:nvPr/>
        </p:nvSpPr>
        <p:spPr>
          <a:xfrm>
            <a:off x="8494776" y="5047488"/>
            <a:ext cx="219456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38" name="Shape 34"/>
          <p:cNvSpPr/>
          <p:nvPr/>
        </p:nvSpPr>
        <p:spPr>
          <a:xfrm>
            <a:off x="8723376" y="4617720"/>
            <a:ext cx="2926080" cy="868680"/>
          </a:xfrm>
          <a:prstGeom prst="roundRect">
            <a:avLst>
              <a:gd name="adj" fmla="val 5263"/>
            </a:avLst>
          </a:prstGeom>
          <a:solidFill>
            <a:srgbClr val="0D9488"/>
          </a:solidFill>
          <a:ln w="12700">
            <a:solidFill>
              <a:srgbClr val="CBD5E1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9" name="Text 35"/>
          <p:cNvSpPr/>
          <p:nvPr/>
        </p:nvSpPr>
        <p:spPr>
          <a:xfrm>
            <a:off x="8759952" y="4617720"/>
            <a:ext cx="2852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(web-grounded)</a:t>
            </a:r>
            <a:endParaRPr lang="en-US" sz="1200" dirty="0"/>
          </a:p>
        </p:txBody>
      </p:sp>
      <p:sp>
        <p:nvSpPr>
          <p:cNvPr id="40" name="Text 36"/>
          <p:cNvSpPr/>
          <p:nvPr/>
        </p:nvSpPr>
        <p:spPr>
          <a:xfrm>
            <a:off x="822960" y="559612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Self-correcting: when the papers don't cover a question, it falls back to the live web instead of guessing.</a:t>
            </a:r>
            <a:endParaRPr lang="en-US" sz="1200" dirty="0"/>
          </a:p>
        </p:txBody>
      </p:sp>
      <p:sp>
        <p:nvSpPr>
          <p:cNvPr id="41" name="Text 37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Compulsory Goals — Delivered</a:t>
            </a:r>
            <a:endParaRPr lang="en-US" sz="3000" dirty="0"/>
          </a:p>
        </p:txBody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499616"/>
            <a:ext cx="310896" cy="31089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34440" y="146304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own dataset / downloaded seminal GenAI papers (PDFs)</a:t>
            </a:r>
            <a:endParaRPr lang="en-US" sz="1550" dirty="0"/>
          </a:p>
        </p:txBody>
      </p:sp>
      <p:pic>
        <p:nvPicPr>
          <p:cNvPr id="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57984"/>
            <a:ext cx="310896" cy="31089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234440" y="2121408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and indexed documents into a vector database (Chroma)</a:t>
            </a:r>
            <a:endParaRPr lang="en-US" sz="1550" dirty="0"/>
          </a:p>
        </p:txBody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2816352"/>
            <a:ext cx="310896" cy="310896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234440" y="2779776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Experimented with multiple embedding models (open-source + commercial)</a:t>
            </a:r>
            <a:endParaRPr lang="en-US" sz="1550" dirty="0"/>
          </a:p>
        </p:txBody>
      </p:sp>
      <p:pic>
        <p:nvPicPr>
          <p:cNvPr id="1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474720"/>
            <a:ext cx="310896" cy="31089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234440" y="3438144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Experimented with retrieval strategies (cosine → hybrid → rerankers)</a:t>
            </a:r>
            <a:endParaRPr lang="en-US" sz="1550" dirty="0"/>
          </a:p>
        </p:txBody>
      </p:sp>
      <p:pic>
        <p:nvPicPr>
          <p:cNvPr id="1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133088"/>
            <a:ext cx="310896" cy="310896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234440" y="4096512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the vector DB to an LLM to build a full RAG pipeline</a:t>
            </a:r>
            <a:endParaRPr lang="en-US" sz="1550" dirty="0"/>
          </a:p>
        </p:txBody>
      </p:sp>
      <p:pic>
        <p:nvPicPr>
          <p:cNvPr id="1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4791456"/>
            <a:ext cx="310896" cy="310896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1234440" y="4754880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the pipeline on sample queries (evaluation harness)</a:t>
            </a:r>
            <a:endParaRPr lang="en-US" sz="1550" dirty="0"/>
          </a:p>
        </p:txBody>
      </p:sp>
      <p:pic>
        <p:nvPicPr>
          <p:cNvPr id="1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" y="5449824"/>
            <a:ext cx="310896" cy="310896"/>
          </a:xfrm>
          <a:prstGeom prst="rect">
            <a:avLst/>
          </a:prstGeom>
        </p:spPr>
      </p:pic>
      <p:sp>
        <p:nvSpPr>
          <p:cNvPr id="18" name="Text 8"/>
          <p:cNvSpPr/>
          <p:nvPr/>
        </p:nvSpPr>
        <p:spPr>
          <a:xfrm>
            <a:off x="1234440" y="5413248"/>
            <a:ext cx="10149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Showed the source of each answer (top-3 context documents)</a:t>
            </a:r>
            <a:endParaRPr lang="en-US" sz="1550" dirty="0"/>
          </a:p>
        </p:txBody>
      </p:sp>
      <p:sp>
        <p:nvSpPr>
          <p:cNvPr id="19" name="Text 9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 1 — Embedding Models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298448" y="950976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documents become searchable vectors. I compared three, then chose the best.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40080" y="20116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MiniLM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22960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all-MiniLM-L6-v2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• runs on the VPS CPU • small &amp; fast baseline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4480560" y="17830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480560" y="20116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BGE-base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4663440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BAAI/bge-base-en-v1.5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754880" y="31089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Open-source • stronger retrieval quality • CPU-friendly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321040" y="17830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0D948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8321040" y="2011680"/>
            <a:ext cx="3520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OpenAI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8503920" y="256032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text-embedding-3-small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8595360" y="310896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API • the brief's required commercial model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640080" y="50292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compare?  </a:t>
            </a:r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embeddings retrieve more relevant passages, which directly improves answer quality. The evaluation harness measures which one wins on this dataset.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Experiment 2 — Retrieval Strategies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298448" y="950976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increasingly powerful ways to find the right chunks for a question.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121408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21214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1691640" y="198424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Dense (cosine)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1691640" y="240487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semantic similarity — match meaning via vector distance. Simple, but can miss exact keywords.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40080" y="31546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868680" y="3493008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3" name="Text 10"/>
          <p:cNvSpPr/>
          <p:nvPr/>
        </p:nvSpPr>
        <p:spPr>
          <a:xfrm>
            <a:off x="868680" y="3493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691640" y="335584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 (dense + BM25)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691640" y="377647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semantic search with keyword search, fused together. Catches both meaning and exact terms.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40080" y="45262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68680" y="4864608"/>
            <a:ext cx="566928" cy="566928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8" name="Text 15"/>
          <p:cNvSpPr/>
          <p:nvPr/>
        </p:nvSpPr>
        <p:spPr>
          <a:xfrm>
            <a:off x="868680" y="4864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1691640" y="4727448"/>
            <a:ext cx="9509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 + Reranker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691640" y="5148072"/>
            <a:ext cx="9509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cross-encoder re-scores the top candidates for true relevance. Best precision; the chosen default.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RAG Pipeline &amp; Source Attribution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every question, the bot retrieves relevant chunks, feeds them as context to GPT with strict instructions to answer only from that context, and returns the answer with its sources.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640080" y="23774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85800" y="237744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2702052" y="2834640"/>
            <a:ext cx="155448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862072" y="23774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2907792" y="237744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chunks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4924044" y="2834640"/>
            <a:ext cx="155448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5084064" y="23774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5129784" y="237744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context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146036" y="2834640"/>
            <a:ext cx="155448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7306056" y="23774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7351776" y="237744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 answers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9368028" y="2834640"/>
            <a:ext cx="155448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9528048" y="2377440"/>
            <a:ext cx="2057400" cy="914400"/>
          </a:xfrm>
          <a:prstGeom prst="round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9573768" y="2377440"/>
            <a:ext cx="1965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top-3 sources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640080" y="3703320"/>
            <a:ext cx="10881360" cy="219456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977640"/>
            <a:ext cx="365760" cy="36576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1417320" y="3977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source attribution matters</a:t>
            </a:r>
            <a:endParaRPr lang="en-US" sz="1700" dirty="0"/>
          </a:p>
        </p:txBody>
      </p:sp>
      <p:sp>
        <p:nvSpPr>
          <p:cNvPr id="23" name="Text 19"/>
          <p:cNvSpPr/>
          <p:nvPr/>
        </p:nvSpPr>
        <p:spPr>
          <a:xfrm>
            <a:off x="1417320" y="45262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&amp; verifiability — </a:t>
            </a:r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see exactly which paper and page each claim came from.</a:t>
            </a:r>
            <a:endParaRPr lang="en-US" sz="1450" dirty="0"/>
          </a:p>
        </p:txBody>
      </p:sp>
      <p:sp>
        <p:nvSpPr>
          <p:cNvPr id="24" name="Text 20"/>
          <p:cNvSpPr/>
          <p:nvPr/>
        </p:nvSpPr>
        <p:spPr>
          <a:xfrm>
            <a:off x="1417320" y="49834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— </a:t>
            </a:r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prompt forbids answering beyond the retrieved context, sharply cutting hallucination.</a:t>
            </a:r>
            <a:endParaRPr lang="en-US" sz="1450" dirty="0"/>
          </a:p>
        </p:txBody>
      </p:sp>
      <p:sp>
        <p:nvSpPr>
          <p:cNvPr id="25" name="Text 21"/>
          <p:cNvSpPr/>
          <p:nvPr/>
        </p:nvSpPr>
        <p:spPr>
          <a:xfrm>
            <a:off x="1417320" y="5440680"/>
            <a:ext cx="9784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— </a:t>
            </a:r>
            <a:pPr indent="0" marL="0"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chunk carries its paper title + page as metadata, surfaced under every answer in the UI.</a:t>
            </a:r>
            <a:endParaRPr lang="en-US" sz="1450" dirty="0"/>
          </a:p>
        </p:txBody>
      </p:sp>
      <p:sp>
        <p:nvSpPr>
          <p:cNvPr id="26" name="Text 22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-1463040"/>
            <a:ext cx="3657600" cy="3657600"/>
          </a:xfrm>
          <a:prstGeom prst="ellipse">
            <a:avLst/>
          </a:prstGeom>
          <a:solidFill>
            <a:srgbClr val="0D9488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4688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GOALS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77824" y="292608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All three delivered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91440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  •  Multi-user conversational RAG  •  Agentic Corrective RAG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Stretch Goals 1 &amp; 2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55448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984248"/>
            <a:ext cx="329184" cy="32918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91640" y="1874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— Chat Interface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914400" y="265176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web chat app built with Chainlit.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a question, get a streamed answer, with the source chunks shown as expandable cards underneath.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locally for the demo, or served on the VPS behind Nginx for a shareable link.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172200" y="1554480"/>
            <a:ext cx="53492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46520" y="1828800"/>
            <a:ext cx="640080" cy="64008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198424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7223760" y="1874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 — Multi-user Conversational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6446520" y="2651760"/>
            <a:ext cx="48463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user session has its own isolated chat history (stored in SQLite).</a:t>
            </a: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endParaRPr lang="en-US" sz="145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Follow-up questions are condensed against the recent conversation — so "how does it scale?" correctly resolves what "it" refers to before retrieval.</a:t>
            </a:r>
            <a:endParaRPr lang="en-US" sz="1450" dirty="0"/>
          </a:p>
        </p:txBody>
      </p:sp>
      <p:sp>
        <p:nvSpPr>
          <p:cNvPr id="15" name="Text 10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Stretch Goal 3 — Agentic Corrective RAG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298448" y="950976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LangGraph agent that checks its own retrieval and self-corrects.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822960" y="1920240"/>
            <a:ext cx="274320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57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Retrieve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68680" y="24688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 chunks from the papers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611880" y="2468880"/>
            <a:ext cx="45720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114800" y="1920240"/>
            <a:ext cx="3108960" cy="109728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114800" y="20574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Grade relevance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1605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judges each retrieved chunk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223760" y="2468880"/>
            <a:ext cx="45720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7726680" y="1920240"/>
            <a:ext cx="3794760" cy="1097280"/>
          </a:xfrm>
          <a:prstGeom prst="roundRect">
            <a:avLst>
              <a:gd name="adj" fmla="val 6667"/>
            </a:avLst>
          </a:prstGeom>
          <a:solidFill>
            <a:srgbClr val="0D9488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7726680" y="2103120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 answer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7772400" y="2514600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→ answer from papers + sources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7269480" y="21031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5669280" y="3017520"/>
            <a:ext cx="0" cy="777240"/>
          </a:xfrm>
          <a:prstGeom prst="line">
            <a:avLst/>
          </a:prstGeom>
          <a:noFill/>
          <a:ln w="31750">
            <a:solidFill>
              <a:srgbClr val="DC2626"/>
            </a:solidFill>
            <a:prstDash val="solid"/>
            <a:tailEnd type="triangle"/>
          </a:ln>
        </p:spPr>
      </p:sp>
      <p:sp>
        <p:nvSpPr>
          <p:cNvPr id="19" name="Text 16"/>
          <p:cNvSpPr/>
          <p:nvPr/>
        </p:nvSpPr>
        <p:spPr>
          <a:xfrm>
            <a:off x="5760720" y="31546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822960" y="38862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22960" y="4023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Rewrite query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68680" y="43708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a better search query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858768" y="4361688"/>
            <a:ext cx="45720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4343400" y="3886200"/>
            <a:ext cx="301752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4343400" y="40233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search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4389120" y="437083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DuckDuckGo — free, no key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7379208" y="4361688"/>
            <a:ext cx="457200" cy="0"/>
          </a:xfrm>
          <a:prstGeom prst="line">
            <a:avLst/>
          </a:prstGeom>
          <a:noFill/>
          <a:ln w="31750">
            <a:solidFill>
              <a:srgbClr val="14B8A6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863840" y="3886200"/>
            <a:ext cx="3657600" cy="960120"/>
          </a:xfrm>
          <a:prstGeom prst="roundRect">
            <a:avLst>
              <a:gd name="adj" fmla="val 7619"/>
            </a:avLst>
          </a:prstGeom>
          <a:solidFill>
            <a:srgbClr val="1E293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9" name="Text 26"/>
          <p:cNvSpPr/>
          <p:nvPr/>
        </p:nvSpPr>
        <p:spPr>
          <a:xfrm>
            <a:off x="7863840" y="41605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Generate (web-grounded)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822960" y="5212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payoff: instead of confidently answering from weak context, the bot recognises a gap and goes to the live web — a genuinely agentic behaviour.</a:t>
            </a:r>
            <a:endParaRPr lang="en-US" sz="1450" dirty="0"/>
          </a:p>
        </p:txBody>
      </p:sp>
      <p:sp>
        <p:nvSpPr>
          <p:cNvPr id="31" name="Text 28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Evaluation — How I Chose the Best Approach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640080" y="1371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embedding × strategy combination is run over a fixed set of sample questions. Each answer is scored, and latency is recorded, to justify the final choice.</a:t>
            </a:r>
            <a:endParaRPr lang="en-US" sz="1550" dirty="0"/>
          </a:p>
        </p:txBody>
      </p:sp>
      <p:sp>
        <p:nvSpPr>
          <p:cNvPr id="6" name="Text 3"/>
          <p:cNvSpPr/>
          <p:nvPr/>
        </p:nvSpPr>
        <p:spPr>
          <a:xfrm>
            <a:off x="822960" y="210312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quality — an LLM-as-judge rates relevance + grounding (1–5)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— average seconds per query (matters on a CPU-only VPS)</a:t>
            </a:r>
            <a:endParaRPr lang="en-US" sz="14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— a ranked table + CSV; the top combination becomes the default</a:t>
            </a:r>
            <a:endParaRPr lang="en-US" sz="14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3429000"/>
          <a:ext cx="10515600" cy="1828800"/>
        </p:xfrm>
        <a:graphic>
          <a:graphicData uri="http://schemas.openxmlformats.org/drawingml/2006/table">
            <a:tbl>
              <a:tblPr/>
              <a:tblGrid>
                <a:gridCol w="2651760"/>
                <a:gridCol w="2926080"/>
                <a:gridCol w="246888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Embedding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score (1–5)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Avg latency (s)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BGE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+ rerank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fill after run 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fill 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OpenAI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hybrid + rerank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fill after run 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fill 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MiniLM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fill after run 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i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 fill ]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822960" y="54406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 python evaluate.py  on the VPS, then paste the real numbers here. (No results are invented for this deck.)</a:t>
            </a:r>
            <a:endParaRPr lang="en-US" sz="1250" dirty="0"/>
          </a:p>
        </p:txBody>
      </p:sp>
      <p:sp>
        <p:nvSpPr>
          <p:cNvPr id="9" name="Text 5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73736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148840"/>
            <a:ext cx="274320" cy="2743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600200" y="20116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Orchestration</a:t>
            </a:r>
            <a:endParaRPr lang="en-US" sz="1600" dirty="0"/>
          </a:p>
        </p:txBody>
      </p:sp>
      <p:sp>
        <p:nvSpPr>
          <p:cNvPr id="9" name="Text 5"/>
          <p:cNvSpPr/>
          <p:nvPr/>
        </p:nvSpPr>
        <p:spPr>
          <a:xfrm>
            <a:off x="960120" y="2697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(agent)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480560" y="173736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754880" y="201168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148840"/>
            <a:ext cx="274320" cy="27432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440680" y="20116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Embeddings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4800600" y="2697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MiniLM, BGE (HF)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embeddings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8321040" y="173736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595360" y="201168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0" y="2148840"/>
            <a:ext cx="274320" cy="274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281160" y="20116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Vector DB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8641080" y="269748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Chroma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(keyword)</a:t>
            </a:r>
            <a:endParaRPr lang="en-US" sz="1350" dirty="0"/>
          </a:p>
        </p:txBody>
      </p:sp>
      <p:sp>
        <p:nvSpPr>
          <p:cNvPr id="20" name="Shape 14"/>
          <p:cNvSpPr/>
          <p:nvPr/>
        </p:nvSpPr>
        <p:spPr>
          <a:xfrm>
            <a:off x="640080" y="397764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914400" y="425196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1560" y="4389120"/>
            <a:ext cx="274320" cy="27432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00200" y="42519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Generation</a:t>
            </a:r>
            <a:endParaRPr lang="en-US" sz="1600" dirty="0"/>
          </a:p>
        </p:txBody>
      </p:sp>
      <p:sp>
        <p:nvSpPr>
          <p:cNvPr id="24" name="Text 17"/>
          <p:cNvSpPr/>
          <p:nvPr/>
        </p:nvSpPr>
        <p:spPr>
          <a:xfrm>
            <a:off x="960120" y="4937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 GPT</a:t>
            </a:r>
            <a:endParaRPr lang="en-US" sz="1350" dirty="0"/>
          </a:p>
        </p:txBody>
      </p:sp>
      <p:sp>
        <p:nvSpPr>
          <p:cNvPr id="25" name="Shape 18"/>
          <p:cNvSpPr/>
          <p:nvPr/>
        </p:nvSpPr>
        <p:spPr>
          <a:xfrm>
            <a:off x="4480560" y="397764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754880" y="425196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4389120"/>
            <a:ext cx="274320" cy="27432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5440680" y="42519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Interface</a:t>
            </a:r>
            <a:endParaRPr lang="en-US" sz="1600" dirty="0"/>
          </a:p>
        </p:txBody>
      </p:sp>
      <p:sp>
        <p:nvSpPr>
          <p:cNvPr id="29" name="Text 21"/>
          <p:cNvSpPr/>
          <p:nvPr/>
        </p:nvSpPr>
        <p:spPr>
          <a:xfrm>
            <a:off x="4800600" y="4937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Chainlit chat UI</a:t>
            </a:r>
            <a:endParaRPr lang="en-US" sz="1350" dirty="0"/>
          </a:p>
        </p:txBody>
      </p:sp>
      <p:sp>
        <p:nvSpPr>
          <p:cNvPr id="30" name="Shape 22"/>
          <p:cNvSpPr/>
          <p:nvPr/>
        </p:nvSpPr>
        <p:spPr>
          <a:xfrm>
            <a:off x="8321040" y="3977640"/>
            <a:ext cx="352044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595360" y="4251960"/>
            <a:ext cx="548640" cy="54864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32520" y="4389120"/>
            <a:ext cx="274320" cy="27432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9281160" y="425196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Memory &amp; Web</a:t>
            </a:r>
            <a:endParaRPr lang="en-US" sz="1600" dirty="0"/>
          </a:p>
        </p:txBody>
      </p:sp>
      <p:sp>
        <p:nvSpPr>
          <p:cNvPr id="34" name="Text 25"/>
          <p:cNvSpPr/>
          <p:nvPr/>
        </p:nvSpPr>
        <p:spPr>
          <a:xfrm>
            <a:off x="8641080" y="4937760"/>
            <a:ext cx="2971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history</a:t>
            </a:r>
            <a:endParaRPr lang="en-US" sz="1350" dirty="0"/>
          </a:p>
          <a:p>
            <a:pPr marL="342900" indent="-342900">
              <a:buSzPct val="100000"/>
              <a:buChar char="•"/>
            </a:pPr>
            <a:r>
              <a:rPr lang="en-US" sz="13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DuckDuckGo search</a:t>
            </a:r>
            <a:endParaRPr lang="en-US" sz="1350" dirty="0"/>
          </a:p>
        </p:txBody>
      </p:sp>
      <p:sp>
        <p:nvSpPr>
          <p:cNvPr id="35" name="Text 26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01200" y="4023360"/>
            <a:ext cx="4114800" cy="411480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914400" y="914400"/>
            <a:ext cx="868680" cy="86868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09728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965960" y="9601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Live Demo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96012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I'll show: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05840" y="2606040"/>
            <a:ext cx="987552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question covered by the papers → grounded answer with top-3 sources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follow-up using "it" → conversational memory resolves the reference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something NOT in the papers → Corrective RAG falls back to web search</a:t>
            </a:r>
            <a:endParaRPr lang="en-US" sz="165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16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embedding / strategy and show the evaluation comparison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005840" y="5486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runs on the VPS at the project's URL.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566928" cy="566928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" y="539496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9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Challenges, Learnings &amp; Future Work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640080" y="155448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40080" y="1554480"/>
            <a:ext cx="3520440" cy="59436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15544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Challenges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914400" y="237744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 + open-source + CPU-only VPS — solved by running the LLM on a hosted API while embeddings run locally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search &amp; reranking tuning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&lt;add a challenge you personally hit&gt;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480560" y="155448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80560" y="1554480"/>
            <a:ext cx="3520440" cy="59436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11" name="Text 8"/>
          <p:cNvSpPr/>
          <p:nvPr/>
        </p:nvSpPr>
        <p:spPr>
          <a:xfrm>
            <a:off x="4480560" y="15544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 Learned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4754880" y="237744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RAG grounds an LLM in real sources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Trade-offs between embedding models &amp; retrievers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an agentic loop with LangGraph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&lt;add your own takeaway&gt;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321040" y="1554480"/>
            <a:ext cx="3520440" cy="44805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321040" y="1554480"/>
            <a:ext cx="3520440" cy="594360"/>
          </a:xfrm>
          <a:prstGeom prst="rect">
            <a:avLst/>
          </a:prstGeom>
          <a:solidFill>
            <a:srgbClr val="64748B"/>
          </a:solidFill>
          <a:ln/>
        </p:spPr>
      </p:sp>
      <p:sp>
        <p:nvSpPr>
          <p:cNvPr id="15" name="Text 12"/>
          <p:cNvSpPr/>
          <p:nvPr/>
        </p:nvSpPr>
        <p:spPr>
          <a:xfrm>
            <a:off x="8321040" y="1554480"/>
            <a:ext cx="3520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Future Work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8595360" y="2377440"/>
            <a:ext cx="297180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paper corpus &amp; user feedback loop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Caching &amp; rate-limit handling for scale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with labelled ground-truth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11521440" y="6400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371600"/>
            <a:ext cx="4754880" cy="4754880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4389120"/>
            <a:ext cx="2743200" cy="2743200"/>
          </a:xfrm>
          <a:prstGeom prst="ellipse">
            <a:avLst/>
          </a:prstGeom>
          <a:solidFill>
            <a:srgbClr val="0D9488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914400" y="2331720"/>
            <a:ext cx="822960" cy="822960"/>
          </a:xfrm>
          <a:prstGeom prst="ellipse">
            <a:avLst/>
          </a:prstGeom>
          <a:solidFill>
            <a:srgbClr val="14B8A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8992" y="2496312"/>
            <a:ext cx="493776" cy="4937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920240" y="22860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60120" y="3474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 welcome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6012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Paper Answer Bot  •  Generative AI Pinnacle Capstone  •  &lt;Your Name&gt;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Research Paper Answer Bot</dc:title>
  <dc:subject>PptxGenJS Presentation</dc:subject>
  <dc:creator>Capstone Submission</dc:creator>
  <cp:lastModifiedBy>Capstone Submission</cp:lastModifiedBy>
  <cp:revision>1</cp:revision>
  <dcterms:created xsi:type="dcterms:W3CDTF">2026-06-01T12:19:04Z</dcterms:created>
  <dcterms:modified xsi:type="dcterms:W3CDTF">2026-06-01T12:19:04Z</dcterms:modified>
</cp:coreProperties>
</file>