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4"/>
    <p:sldId id="274" r:id="rId25"/>
    <p:sldId id="275" r:id="rId26"/>
    <p:sldId id="276" r:id="rId2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819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Paper Answer Bot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over Generative AI &amp; LLM research papers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Pinnacle Program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Analytics Vidhya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Jineesh T 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Case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scenario: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like ArXiv maintains a large repository of the latest AI and Data Science research papers.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an intelligent chatbot that answers questions people ask about popular topics in Generative AI — grounded in the actual papers, not made-up.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657600"/>
            <a:ext cx="64008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3657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buried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959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deep inside dozens of dense PDFs.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526280"/>
            <a:ext cx="64008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4526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LLMs hallucinate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8680" y="4828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without grounding invents facts and citations.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394960"/>
            <a:ext cx="64008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68680" y="53949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trust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8680" y="56967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must show which paper it came from.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55280" y="137160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828800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381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229600" y="301752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system that reads the papers, retrieves the right passages, and answers in plain language — with sources.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22960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a focused set of seminal papers, per the project's 2-week timeframe.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RAG chatbot with a web chat interface — modular by design, so each component can be swapped to compare approaches.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2423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met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93008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493008" y="2423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493008" y="3246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45936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45936" y="2423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345936" y="3246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198864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98864" y="2423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9198864" y="3246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strategies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asked for all compulsory goals + at least one stretch goal.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</a:t>
            </a:r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stretch goals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 Chainlit chat UI,  multi-user conversational memory,  and an agentic Corrective-RAG with web-search fallback.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98448" y="950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components on one VPS, embeddings on a free tier and an optional web search — generation runs locally.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04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554480"/>
            <a:ext cx="82296" cy="7315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1792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03120" y="169164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139696" y="16916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Browser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83480" y="169164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0056" y="16916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Chat UI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432304"/>
            <a:ext cx="70408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7200" y="2432304"/>
            <a:ext cx="82296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" y="2432304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03120" y="263347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139696" y="26334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77640" y="263347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014216" y="26334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Corrective-RAG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(LangGraph)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2633472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888736" y="263347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538728"/>
            <a:ext cx="704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57200" y="3538728"/>
            <a:ext cx="82296" cy="7315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21792" y="353872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103120" y="3675888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139696" y="36758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— dense / hybrid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83480" y="3675888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020056" y="36758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416552"/>
            <a:ext cx="70408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57200" y="4416552"/>
            <a:ext cx="82296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21792" y="4416552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103120" y="46177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139696" y="4617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977640" y="46177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014216" y="4617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852160" y="46177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5888736" y="4617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00600" y="2286000"/>
            <a:ext cx="0" cy="146304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4800600" y="3392424"/>
            <a:ext cx="0" cy="146304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800600" y="4270248"/>
            <a:ext cx="0" cy="146304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7818120" y="1554480"/>
            <a:ext cx="3931920" cy="2926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818120" y="1554480"/>
            <a:ext cx="82296" cy="2926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8019288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(APIs)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046720" y="2121408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8083296" y="212140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Embeddings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046720" y="2798064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8083296" y="279806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local CLI ($0, no API key)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8046720" y="3474720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8083296" y="347472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— Web Search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7498080" y="2907792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7498080" y="3904488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7818120" y="4626864"/>
            <a:ext cx="393192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8001000" y="462686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VPS · Nginx · systemd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57200" y="5532120"/>
            <a:ext cx="112928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457200" y="5532120"/>
            <a:ext cx="82296" cy="7772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621792" y="5532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057400" y="5687568"/>
            <a:ext cx="1627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093976" y="5687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721608" y="5916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4069080" y="5687568"/>
            <a:ext cx="1627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4105656" y="5687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load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733288" y="5916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6080760" y="5687568"/>
            <a:ext cx="1627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6117336" y="5687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metadata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7744968" y="5916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6" name="Shape 63"/>
          <p:cNvSpPr/>
          <p:nvPr/>
        </p:nvSpPr>
        <p:spPr>
          <a:xfrm>
            <a:off x="8092440" y="5687568"/>
            <a:ext cx="1627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8129016" y="5687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9756648" y="5916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10104120" y="5687568"/>
            <a:ext cx="1627632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10140696" y="5687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DB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&amp; Data Flow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98448" y="950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travels through the system at run time.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32888" y="2423160"/>
            <a:ext cx="283464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816352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862072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862072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DB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423160"/>
            <a:ext cx="283464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129784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175504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&amp; build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175504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only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59752" y="2423160"/>
            <a:ext cx="283464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443216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488936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488936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context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473184" y="2423160"/>
            <a:ext cx="283464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756648" y="18288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802368" y="2029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802368" y="2487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user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3611880"/>
            <a:ext cx="11201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950208"/>
            <a:ext cx="283464" cy="28346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1732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retrieval is weak — the Corrective-RAG fallback fires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22960" y="4617720"/>
            <a:ext cx="2011680" cy="86868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859536" y="461772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relevance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2862072" y="5047488"/>
            <a:ext cx="21945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090672" y="461772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3127248" y="46177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weak? rewrite query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95544" y="5047488"/>
            <a:ext cx="21945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724144" y="46177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5760720" y="461772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(DuckDuckGo)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494776" y="5047488"/>
            <a:ext cx="219456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723376" y="461772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0D948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8759952" y="4617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(web-grounded)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22960" y="5596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Self-correcting: when the papers don't cover a question, it falls back to the live web instead of guessing.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Compulsory Goals — Delivered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99616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4630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own dataset / downloaded seminal GenAI papers (PDFs)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57984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212140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indexed documents into a vector database (Chroma)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16352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277977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with multiple embedding models (open-source + commercial)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74720"/>
            <a:ext cx="310896" cy="3108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343814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with retrieval strategies (cosine → hybrid → rerankers)</a:t>
            </a:r>
            <a:endParaRPr lang="en-US" sz="15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33088"/>
            <a:ext cx="310896" cy="31089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4440" y="40965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vector DB to an LLM to build a full RAG pipeline</a:t>
            </a:r>
            <a:endParaRPr lang="en-US" sz="15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91456"/>
            <a:ext cx="310896" cy="31089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234440" y="47548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pipeline on sample queries (evaluation harness)</a:t>
            </a:r>
            <a:endParaRPr lang="en-US" sz="15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49824"/>
            <a:ext cx="310896" cy="31089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234440" y="541324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the source of each answer (top-3 context documents)</a:t>
            </a:r>
            <a:endParaRPr lang="en-US" sz="1550" dirty="0"/>
          </a:p>
        </p:txBody>
      </p:sp>
      <p:sp>
        <p:nvSpPr>
          <p:cNvPr id="19" name="Text 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1 — Embedding Models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98448" y="950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documents become searchable vectors. I compared three, then chose the best.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• runs on the VPS CPU • small &amp; fast baseline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17830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8056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BGE-base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6634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BAAI/bge-base-en-v1.5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• stronger retrieval quality • CPU-friendly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21040" y="17830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2104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50392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95360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API • the brief's required commercial model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compare? 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 retrieve more relevant passages, which directly improves answer quality. The evaluation harness measures which one wins on this dataset.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2 — Retrieval Strategies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98448" y="950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increasingly powerful ways to find the right chunks for a question.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68680" y="2121408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91640" y="19842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(cosine)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4048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semantic similarity — match meaning via vector distance. Simple, but can miss exact keywords.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154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68680" y="3493008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68680" y="3493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91640" y="33558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(dense + BM25)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91640" y="37764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semantic search with keyword search, fused together. Catches both meaning and exact terms.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68680" y="486460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68680" y="4864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691640" y="47274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+ Reranker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91640" y="51480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re-scores the top candidates for true relevance. Best precision; the chosen default.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Pipeline &amp; Source Attribution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question, the bot retrieves relevant chunks, feeds them as context to Claude with strict instructions to answer only from that context, and returns the answer with its sources.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2377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702052" y="2834640"/>
            <a:ext cx="15544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862072" y="2377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907792" y="2377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chunks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24044" y="2834640"/>
            <a:ext cx="15544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084064" y="2377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129784" y="2377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46036" y="2834640"/>
            <a:ext cx="15544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306056" y="2377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51776" y="2377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368028" y="2834640"/>
            <a:ext cx="15544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528048" y="2377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573768" y="2377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top-3 sources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37033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7764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1732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source attribution matters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1417320" y="4526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verifiability —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exactly which paper and page each claim came from.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1417320" y="49834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—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forbids answering beyond the retrieved context, sharply cutting hallucination.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carries its paper title + page as metadata, surfaced under every answer in the UI.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-1463040"/>
            <a:ext cx="3657600" cy="36576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7824" y="2926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three delivered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 •  Multi-user conversational RAG  •  Agentic Corrective RAG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Stretch Goals 1 &amp; 2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9842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Chat Interface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14400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chat app built with Chainlit.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question, get a streamed answer, with the source chunks shown as expandable cards underneath.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for the demo, or served on the VPS behind Nginx for a shareable link.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842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— Multi-user Conversational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46520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has its own isolated chat history (stored in SQLite).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are condensed against the recent conversation — so "how does it scale?" correctly resolves what "it" refers to before retrieval.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Stretch Goal 3 — Agentic Corrective RAG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98448" y="950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that checks its own retrieval and self-corrects.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chunks from the papers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11880" y="2468880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0" y="192024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11480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relevance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605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 each retrieved chunk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2468880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726680" y="192024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72668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answer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0" y="25146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→ answer from papers + sources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26948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0" y="3017520"/>
            <a:ext cx="0" cy="77724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7607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3886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2296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query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6868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better search query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858768" y="4361688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343400" y="38862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3434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search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38912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— free, no key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379208" y="4361688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863840" y="38862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86384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(web-grounded)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296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instead of confidently answering from weak context, the bot recognises a gap and goes to the live web — a genuinely agentic behaviour.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— How I Chose the Best Approach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embedding × strategy combination is run over a fixed set of sample questions. Each answer is scored, and latency is recorded, to justify the final choice.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— an LLM-as-judge rates relevance + grounding (1–5)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average seconds per query (matters on a CPU-only VPS)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a ranked table + CSV; the top combination becomes the default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15600" cy="1828800"/>
        </p:xfrm>
        <a:graphic>
          <a:graphicData uri="http://schemas.openxmlformats.org/drawingml/2006/table">
            <a:tbl>
              <a:tblPr/>
              <a:tblGrid>
                <a:gridCol w="2651760"/>
                <a:gridCol w="292608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 (1–5)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+ rerank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after run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+ rerank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after run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after run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python evaluate.py  on the VPS, then paste the real numbers here. (No results are invented for this deck.)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488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012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(agent)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48056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75488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48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80060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MiniLM, BGE (HF)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32104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595360" y="2011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1488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011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64108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(keyword)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251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6012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(local CLI · $0)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48056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4754880" y="42519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38912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40680" y="4251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80060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chat UI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8321040" y="3977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8595360" y="42519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38912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81160" y="4251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Web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64108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history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023360"/>
            <a:ext cx="4114800" cy="41148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91440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6012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show: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covered by the papers → grounded answer with top-3 sources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follow-up using "it" → conversational memory resolves the reference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something NOT in the papers → Corrective RAG falls back to web search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embedding / strategy and show the evaluation comparison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on the VPS at the project's URL.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3949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Challenges, Learnings &amp; Future 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40080" y="1554480"/>
            <a:ext cx="352044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open-source + CPU-only VPS — solved by running the LLM on a hosted API while embeddings run locally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&amp; reranking tuning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&lt;add a challenge you personally hit&gt;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480560" y="1554480"/>
            <a:ext cx="352044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8056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Learned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754880" y="237744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grounds an LLM in real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between embedding models &amp; retrievers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agentic loop with LangGraph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&lt;add your own takeaway&gt;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321040" y="1554480"/>
            <a:ext cx="3520440" cy="5943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21040" y="1554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95360" y="237744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paper corpus &amp; user feedback loop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rate-limit handling for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with labelled ground-truth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754880" cy="475488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4389120"/>
            <a:ext cx="2743200" cy="2743200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233172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963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6012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 •  Generative AI Pinnacle Capstone  •  Jineesh T 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Retrieval — 7 Strategies + Smart Auto-Routing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Beyond the three baselines: four more strategies (one of them ours) and a gate that picks per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08792" cy="7498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9144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Dense · Hybrid · Hybrid + Rerank — the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1042416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Pure semantic similarity; dense + BM25 keyword fused with RRF; and hybrid re-scored by a cross-encoder.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908792" cy="7498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96312"/>
            <a:ext cx="91440" cy="7498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MMR — diversity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16936"/>
            <a:ext cx="1042416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Max-Marginal-Relevance over the dense store: trims near-duplicate chunks so the context spans more of the corpus. No LLM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92424"/>
            <a:ext cx="10908792" cy="7498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92424"/>
            <a:ext cx="91440" cy="7498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838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Multi-Query  &amp;  HyDE — recall boosters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3048"/>
            <a:ext cx="1042416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Multi-Query: an LLM paraphrases the question, retrieves each, fuses. HyDE: embed an LLM-drafted hypothetical answer and retrieve against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10908792" cy="78638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288536"/>
            <a:ext cx="91440" cy="7863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997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Adaptive Hybrid — our own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Reads the query's shape (acronym / short / quoted → lean BM25;  long / conceptual → lean semantic), sets the weights, then MMR. No extra LLM call.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439826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21224"/>
            <a:ext cx="10908792" cy="74980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221224"/>
            <a:ext cx="91440" cy="74980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12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Auto — the query gate routes for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42416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Pick 'Auto' and a fast classifier chooses the strategy per question — the keyword-vs-vector decision, made from the prompt itself.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Pre-RAG Query Gate — quality-check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The mentor's idea: route by input quality, and ask before you retrieve. Garbage-in is stopped at the door.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08792" cy="768096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91440" cy="768096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 · 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 fast (haiku) LLM labels the question: clear / ambiguous / too-broad / out-of-scope — before any search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0908792" cy="8412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91440" cy="8412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2 · Route  (keyword  vs  semantic)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35224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Clear question → auto-pick the strategy: short/acronym → keyword-leaning (BM25 / adaptive); long/conceptual → semantic (rerank / multi-query); vague wording → HyDE.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08792" cy="8412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502152"/>
            <a:ext cx="91440" cy="84124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 · Clarify  (don't guess)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22776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Too vague (“tell me about models”)? It asks 1–3 clarifying questions instead of retrieving noise and hallucinating an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611880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9704"/>
            <a:ext cx="10908792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489704"/>
            <a:ext cx="9144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8114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Cheap, transparent, 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One haiku call (≈$0); appears in every answer's trace as “0 · Analyze query”; and fails open — any gate error just proceeds as a normal clear question.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Built for Transparency — mentor feedback →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Every piece of feedback became a visible feature. The app itself is the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6192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“Why Chroma DB?”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 dedicated rationale + comparison (embedded, zero-ops, one collection per embedding) vs FAISS / pgvector / Pinecone / Elasticsearch — in the Stack tile and the How-it-Works FAQ.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40864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40864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Metadata &amp; source referencing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Enriched citations on every answer: title · authors+year · page · relevance score · a “View PDF” link that opens the paper at the exact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45536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145536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“Your own &amp; more strategies”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Seven strategies incl. our Adaptive Hybrid, plus Auto smart-routing and the pre-RAG query gate (keyword-vs-vector by prompt quality).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50208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50208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Condense text / “How it works”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Rebuilt as an architecture diagram + design-rationale FAQ + (?) help tooltips + collapsible prompts, and clickable Stack tiles that open how/why detail modals.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54880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Web-search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75504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Pluggable provider — DuckDuckGo (free) by default; Brave / Serper free-tier ready. SerpAPI rejected: it is paid (zero-spend).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59552"/>
            <a:ext cx="10908792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559552"/>
            <a:ext cx="91440" cy="6583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509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Show the Chainlit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0176"/>
            <a:ext cx="104241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The original Chainlit interface is embedded live inside the app under its own tab — same RAG engine, second UI.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Zero-Cost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96926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Production-grade RAG that costs $0 per query to run — the core engineering constraint.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08792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91440" cy="914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Local Claude CLI for all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1226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Answer generation, the CRAG relevance grader, the query gate and the rewriter all run through the host's local `claude` CLI (Claude Max). No per-query API cost, no API key in the app, and the papers never leave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52344"/>
            <a:ext cx="10908792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752344"/>
            <a:ext cx="91440" cy="9144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Local, CPU-only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Open-source embeddings (MiniLM, BGE) and the BM25 keyword index run on the VPS CPU; Chroma is an embedded vector DB persisted to disk — no database server to operate.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13048"/>
            <a:ext cx="10908792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13048"/>
            <a:ext cx="91440" cy="91440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Only free tiers touch the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Gemini embedding (free tier) is included purely for the open-source-vs-commercial comparison; the web-search fallback uses DuckDuckGo (free, no key). Nothing paid.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Paper Answer Bot</dc:title>
  <dc:subject>PptxGenJS Presentation</dc:subject>
  <dc:creator>Capstone Submission</dc:creator>
  <cp:lastModifiedBy>Capstone Submission</cp:lastModifiedBy>
  <cp:revision>1</cp:revision>
  <dcterms:created xsi:type="dcterms:W3CDTF">2026-06-01T12:19:04Z</dcterms:created>
  <dcterms:modified xsi:type="dcterms:W3CDTF">2026-06-01T12:19:04Z</dcterms:modified>
</cp:coreProperties>
</file>